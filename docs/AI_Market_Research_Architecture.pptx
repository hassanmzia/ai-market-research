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AI Market Research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94D60"/>
                </a:solidFill>
              </a:defRPr>
            </a:pPr>
            <a:r>
              <a:t>Technical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</a:defRPr>
            </a:pPr>
            <a:r>
              <a:t>Multi-Agent AI System  |  Real-Time Research Pipeline  |  Full-Stack Microservices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7863840"/>
            <a:ext cx="14630400" cy="365760"/>
          </a:xfrm>
          <a:prstGeom prst="round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882127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React  •  Node.js  •  Django  •  FastAPI  •  Celery  •  PostgreSQL  •  Redis  •  OpenAI  • 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2743200" cy="36576"/>
          </a:xfrm>
          <a:prstGeom prst="round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37160" cy="731520"/>
          </a:xfrm>
          <a:prstGeom prst="roundRect">
            <a:avLst/>
          </a:prstGeom>
          <a:solidFill>
            <a:srgbClr val="3E9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E97D1"/>
                </a:solidFill>
              </a:defRPr>
            </a:pPr>
            <a:r>
              <a:t>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468880"/>
            <a:ext cx="13716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</a:defRPr>
            </a:pPr>
            <a:r>
              <a:t>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114800"/>
            <a:ext cx="137160" cy="7315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148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E44AD"/>
                </a:solidFill>
              </a:defRPr>
            </a:pPr>
            <a:r>
              <a:t>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5943600"/>
            <a:ext cx="13716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436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39C12"/>
                </a:solidFill>
              </a:defRPr>
            </a:pPr>
            <a:r>
              <a:t>AI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7132320"/>
            <a:ext cx="13716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71323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</a:defRPr>
            </a:pPr>
            <a:r>
              <a:t>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1005840"/>
            <a:ext cx="4572000" cy="109728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3E9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105156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3E97D1"/>
                </a:solidFill>
              </a:defRPr>
            </a:pPr>
            <a:r>
              <a:t>React 18 + TypeScript  :3063</a:t>
            </a:r>
          </a:p>
          <a:p>
            <a:pPr>
              <a:spcAft>
                <a:spcPts val="359"/>
              </a:spcAft>
              <a:defRPr sz="1200" b="0">
                <a:solidFill>
                  <a:srgbClr val="F0F0F5"/>
                </a:solidFill>
              </a:defRPr>
            </a:pPr>
            <a:r>
              <a:t>Zustand state  |  React Router v6  |  Axios HTTP  |  Recharts</a:t>
            </a:r>
          </a:p>
          <a:p>
            <a:pPr>
              <a:spcAft>
                <a:spcPts val="359"/>
              </a:spcAft>
              <a:defRPr sz="1200" b="0">
                <a:solidFill>
                  <a:srgbClr val="888888"/>
                </a:solidFill>
              </a:defRPr>
            </a:pPr>
            <a:r>
              <a:t>WebSocket client for real-time research progress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2377440"/>
            <a:ext cx="4572000" cy="109728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242316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27AE60"/>
                </a:solidFill>
              </a:defRPr>
            </a:pPr>
            <a:r>
              <a:t>Node.js Express Gateway  :4063</a:t>
            </a:r>
          </a:p>
          <a:p>
            <a:pPr>
              <a:spcAft>
                <a:spcPts val="359"/>
              </a:spcAft>
              <a:defRPr sz="1200" b="0">
                <a:solidFill>
                  <a:srgbClr val="F0F0F5"/>
                </a:solidFill>
              </a:defRPr>
            </a:pPr>
            <a:r>
              <a:t>HTTP reverse proxy  |  WebSocket relay  |  Rate limiting (Redis)</a:t>
            </a:r>
          </a:p>
          <a:p>
            <a:pPr>
              <a:spcAft>
                <a:spcPts val="359"/>
              </a:spcAft>
              <a:defRPr sz="1200" b="0">
                <a:solidFill>
                  <a:srgbClr val="888888"/>
                </a:solidFill>
              </a:defRPr>
            </a:pPr>
            <a:r>
              <a:t>JWT verification  |  CORS  |  Helmet security  |  gzip compression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0" y="3749039"/>
            <a:ext cx="2926080" cy="182880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379476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1">
                <a:solidFill>
                  <a:srgbClr val="8E44AD"/>
                </a:solidFill>
              </a:defRPr>
            </a:pPr>
            <a:r>
              <a:t>Django 5.1 + DRF  :8063</a:t>
            </a:r>
          </a:p>
          <a:p>
            <a:pPr>
              <a:spcAft>
                <a:spcPts val="330"/>
              </a:spcAft>
              <a:defRPr sz="1100" b="0">
                <a:solidFill>
                  <a:srgbClr val="F0F0F5"/>
                </a:solidFill>
              </a:defRPr>
            </a:pPr>
            <a:r>
              <a:t>REST API  |  JWT Auth</a:t>
            </a:r>
          </a:p>
          <a:p>
            <a:pPr>
              <a:spcAft>
                <a:spcPts val="330"/>
              </a:spcAft>
              <a:defRPr sz="1100" b="0">
                <a:solidFill>
                  <a:srgbClr val="F0F0F5"/>
                </a:solidFill>
              </a:defRPr>
            </a:pPr>
            <a:r>
              <a:t>Research task CRUD</a:t>
            </a:r>
          </a:p>
          <a:p>
            <a:pPr>
              <a:spcAft>
                <a:spcPts val="330"/>
              </a:spcAft>
              <a:defRPr sz="1100" b="0">
                <a:solidFill>
                  <a:srgbClr val="F0F0F5"/>
                </a:solidFill>
              </a:defRPr>
            </a:pPr>
            <a:r>
              <a:t>Report save/export (PDF/MD)</a:t>
            </a:r>
          </a:p>
          <a:p>
            <a:pPr>
              <a:spcAft>
                <a:spcPts val="330"/>
              </a:spcAft>
              <a:defRPr sz="1100" b="0">
                <a:solidFill>
                  <a:srgbClr val="F0F0F5"/>
                </a:solidFill>
              </a:defRPr>
            </a:pPr>
            <a:r>
              <a:t>Watchlist &amp; Notifications</a:t>
            </a:r>
          </a:p>
          <a:p>
            <a:pPr>
              <a:spcAft>
                <a:spcPts val="330"/>
              </a:spcAft>
              <a:defRPr sz="1100" b="0">
                <a:solidFill>
                  <a:srgbClr val="888888"/>
                </a:solidFill>
              </a:defRPr>
            </a:pPr>
            <a:r>
              <a:t>Django Channels (WebSocket)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3749039"/>
            <a:ext cx="2194560" cy="182880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379476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1">
                <a:solidFill>
                  <a:srgbClr val="8E44AD"/>
                </a:solidFill>
              </a:defRPr>
            </a:pPr>
            <a:r>
              <a:t>Celery Workers</a:t>
            </a:r>
          </a:p>
          <a:p>
            <a:pPr>
              <a:spcAft>
                <a:spcPts val="330"/>
              </a:spcAft>
              <a:defRPr sz="1100" b="0">
                <a:solidFill>
                  <a:srgbClr val="F0F0F5"/>
                </a:solidFill>
              </a:defRPr>
            </a:pPr>
            <a:r>
              <a:t>run_research_task</a:t>
            </a:r>
          </a:p>
          <a:p>
            <a:pPr>
              <a:spcAft>
                <a:spcPts val="330"/>
              </a:spcAft>
              <a:defRPr sz="1100" b="0">
                <a:solidFill>
                  <a:srgbClr val="888888"/>
                </a:solidFill>
              </a:defRPr>
            </a:pPr>
            <a:r>
              <a:t>(polls A2A orchestrator)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</a:defRPr>
            </a:pPr>
          </a:p>
          <a:p>
            <a:pPr>
              <a:spcAft>
                <a:spcPts val="330"/>
              </a:spcAft>
              <a:defRPr sz="1100" b="1">
                <a:solidFill>
                  <a:srgbClr val="8E44AD"/>
                </a:solidFill>
              </a:defRPr>
            </a:pPr>
            <a:r>
              <a:t>Celery Beat</a:t>
            </a:r>
          </a:p>
          <a:p>
            <a:pPr>
              <a:spcAft>
                <a:spcPts val="330"/>
              </a:spcAft>
              <a:defRPr sz="1100" b="0">
                <a:solidFill>
                  <a:srgbClr val="F0F0F5"/>
                </a:solidFill>
              </a:defRPr>
            </a:pPr>
            <a:r>
              <a:t>Watchlist refresh (6h)</a:t>
            </a:r>
          </a:p>
          <a:p>
            <a:pPr>
              <a:spcAft>
                <a:spcPts val="330"/>
              </a:spcAft>
              <a:defRPr sz="1100" b="0">
                <a:solidFill>
                  <a:srgbClr val="888888"/>
                </a:solidFill>
              </a:defRPr>
            </a:pPr>
            <a:r>
              <a:t>Task cleanup (daily)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005840"/>
            <a:ext cx="4114800" cy="274320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105156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F39C12"/>
                </a:solidFill>
              </a:defRPr>
            </a:pPr>
            <a:r>
              <a:t>A2A Orchestrator  :7063  (FastAPI)</a:t>
            </a:r>
          </a:p>
          <a:p>
            <a:pPr>
              <a:spcAft>
                <a:spcPts val="359"/>
              </a:spcAft>
              <a:defRPr sz="1200" b="0">
                <a:solidFill>
                  <a:srgbClr val="F0F0F5"/>
                </a:solidFill>
              </a:defRPr>
            </a:pPr>
            <a:r>
              <a:t>8-stage sequential pipeline  |  WebSocket progress stream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2103120"/>
            <a:ext cx="914400" cy="365760"/>
          </a:xfrm>
          <a:prstGeom prst="roundRect">
            <a:avLst/>
          </a:prstGeom>
          <a:solidFill>
            <a:srgbClr val="2A3655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1. Validation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85631" y="2103120"/>
            <a:ext cx="914400" cy="365760"/>
          </a:xfrm>
          <a:prstGeom prst="roundRect">
            <a:avLst/>
          </a:prstGeom>
          <a:solidFill>
            <a:srgbClr val="2A3655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85631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2. Sector 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73183" y="2103120"/>
            <a:ext cx="914400" cy="365760"/>
          </a:xfrm>
          <a:prstGeom prst="roundRect">
            <a:avLst/>
          </a:prstGeom>
          <a:solidFill>
            <a:srgbClr val="2A3655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73183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3. Competitors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60735" y="2103120"/>
            <a:ext cx="914400" cy="365760"/>
          </a:xfrm>
          <a:prstGeom prst="roundRect">
            <a:avLst/>
          </a:prstGeom>
          <a:solidFill>
            <a:srgbClr val="2A3655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0735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4. Financial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2560320"/>
            <a:ext cx="914400" cy="365760"/>
          </a:xfrm>
          <a:prstGeom prst="roundRect">
            <a:avLst/>
          </a:prstGeom>
          <a:solidFill>
            <a:srgbClr val="2A3655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2606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5. Deep Research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85631" y="2560320"/>
            <a:ext cx="914400" cy="365760"/>
          </a:xfrm>
          <a:prstGeom prst="roundRect">
            <a:avLst/>
          </a:prstGeom>
          <a:solidFill>
            <a:srgbClr val="2A3655"/>
          </a:solidFill>
          <a:ln w="1905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85631" y="2606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6. Sentiment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73183" y="2560320"/>
            <a:ext cx="914400" cy="365760"/>
          </a:xfrm>
          <a:prstGeom prst="roundRect">
            <a:avLst/>
          </a:prstGeom>
          <a:solidFill>
            <a:srgbClr val="2A3655"/>
          </a:solidFill>
          <a:ln w="1905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73183" y="2606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7. Trends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60735" y="2560320"/>
            <a:ext cx="914400" cy="365760"/>
          </a:xfrm>
          <a:prstGeom prst="roundRect">
            <a:avLst/>
          </a:prstGeom>
          <a:solidFill>
            <a:srgbClr val="2A3655"/>
          </a:solidFill>
          <a:ln w="19050">
            <a:solidFill>
              <a:srgbClr val="E94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0735" y="2606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8. Report Gen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187451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</a:defRPr>
            </a:pPr>
            <a:r>
              <a:t>→  →  →  →  Sequential Pipeline  →  →  →  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4023360"/>
            <a:ext cx="4114800" cy="155448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79" y="406908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1">
                <a:solidFill>
                  <a:srgbClr val="F39C12"/>
                </a:solidFill>
              </a:defRPr>
            </a:pPr>
            <a:r>
              <a:t>MCP Tool Server  :9063  (FastAPI)</a:t>
            </a:r>
          </a:p>
          <a:p>
            <a:pPr>
              <a:spcAft>
                <a:spcPts val="330"/>
              </a:spcAft>
              <a:defRPr sz="1100" b="0">
                <a:solidFill>
                  <a:srgbClr val="F0F0F5"/>
                </a:solidFill>
              </a:defRPr>
            </a:pPr>
            <a:r>
              <a:t>9 tools: validate_company  |  identify_sector  |  identify_competitors</a:t>
            </a:r>
          </a:p>
          <a:p>
            <a:pPr>
              <a:spcAft>
                <a:spcPts val="330"/>
              </a:spcAft>
              <a:defRPr sz="1100" b="0">
                <a:solidFill>
                  <a:srgbClr val="F0F0F5"/>
                </a:solidFill>
              </a:defRPr>
            </a:pPr>
            <a:r>
              <a:t>browse_page  |  financial_data  |  sentiment_analysis</a:t>
            </a:r>
          </a:p>
          <a:p>
            <a:pPr>
              <a:spcAft>
                <a:spcPts val="330"/>
              </a:spcAft>
              <a:defRPr sz="1100" b="0">
                <a:solidFill>
                  <a:srgbClr val="F0F0F5"/>
                </a:solidFill>
              </a:defRPr>
            </a:pPr>
            <a:r>
              <a:t>trend_analysis  |  swot_analysis  |  generate_report</a:t>
            </a:r>
          </a:p>
          <a:p>
            <a:pPr>
              <a:spcAft>
                <a:spcPts val="330"/>
              </a:spcAft>
              <a:defRPr sz="1100" b="0">
                <a:solidFill>
                  <a:srgbClr val="888888"/>
                </a:solidFill>
              </a:defRPr>
            </a:pPr>
            <a:r>
              <a:t>DuckDuckGo search  |  Web scraping  |  Redis caching (1h TTL)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645920" y="5943600"/>
            <a:ext cx="2926080" cy="182880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0" y="598932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1">
                <a:solidFill>
                  <a:srgbClr val="E74C3C"/>
                </a:solidFill>
              </a:defRPr>
            </a:pPr>
            <a:r>
              <a:t>PostgreSQL 16  :5432</a:t>
            </a:r>
          </a:p>
          <a:p>
            <a:pPr>
              <a:spcAft>
                <a:spcPts val="330"/>
              </a:spcAft>
              <a:defRPr sz="1100" b="0">
                <a:solidFill>
                  <a:srgbClr val="F0F0F5"/>
                </a:solidFill>
              </a:defRPr>
            </a:pPr>
            <a:r>
              <a:t>Users  |  Projects  |  Tasks</a:t>
            </a:r>
          </a:p>
          <a:p>
            <a:pPr>
              <a:spcAft>
                <a:spcPts val="330"/>
              </a:spcAft>
              <a:defRPr sz="1100" b="0">
                <a:solidFill>
                  <a:srgbClr val="F0F0F5"/>
                </a:solidFill>
              </a:defRPr>
            </a:pPr>
            <a:r>
              <a:t>Results  |  Company Profiles</a:t>
            </a:r>
          </a:p>
          <a:p>
            <a:pPr>
              <a:spcAft>
                <a:spcPts val="330"/>
              </a:spcAft>
              <a:defRPr sz="1100" b="0">
                <a:solidFill>
                  <a:srgbClr val="F0F0F5"/>
                </a:solidFill>
              </a:defRPr>
            </a:pPr>
            <a:r>
              <a:t>Watchlist  |  Reports</a:t>
            </a:r>
          </a:p>
          <a:p>
            <a:pPr>
              <a:spcAft>
                <a:spcPts val="330"/>
              </a:spcAft>
              <a:defRPr sz="1100" b="0">
                <a:solidFill>
                  <a:srgbClr val="888888"/>
                </a:solidFill>
              </a:defRPr>
            </a:pPr>
            <a:r>
              <a:t>Notifications  |  Templates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54880" y="5943600"/>
            <a:ext cx="2194560" cy="182880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37760" y="598932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1">
                <a:solidFill>
                  <a:srgbClr val="E74C3C"/>
                </a:solidFill>
              </a:defRPr>
            </a:pPr>
            <a:r>
              <a:t>Redis  :6379</a:t>
            </a:r>
          </a:p>
          <a:p>
            <a:pPr>
              <a:spcAft>
                <a:spcPts val="330"/>
              </a:spcAft>
              <a:defRPr sz="1100" b="0">
                <a:solidFill>
                  <a:srgbClr val="F0F0F5"/>
                </a:solidFill>
              </a:defRPr>
            </a:pPr>
            <a:r>
              <a:t>DB0: Django cache</a:t>
            </a:r>
          </a:p>
          <a:p>
            <a:pPr>
              <a:spcAft>
                <a:spcPts val="330"/>
              </a:spcAft>
              <a:defRPr sz="1100" b="0">
                <a:solidFill>
                  <a:srgbClr val="F0F0F5"/>
                </a:solidFill>
              </a:defRPr>
            </a:pPr>
            <a:r>
              <a:t>DB1: Celery broker</a:t>
            </a:r>
          </a:p>
          <a:p>
            <a:pPr>
              <a:spcAft>
                <a:spcPts val="330"/>
              </a:spcAft>
              <a:defRPr sz="1100" b="0">
                <a:solidFill>
                  <a:srgbClr val="F0F0F5"/>
                </a:solidFill>
              </a:defRPr>
            </a:pPr>
            <a:r>
              <a:t>DB2: MCP tool cache</a:t>
            </a:r>
          </a:p>
          <a:p>
            <a:pPr>
              <a:spcAft>
                <a:spcPts val="330"/>
              </a:spcAft>
              <a:defRPr sz="1100" b="0">
                <a:solidFill>
                  <a:srgbClr val="F0F0F5"/>
                </a:solidFill>
              </a:defRPr>
            </a:pPr>
            <a:r>
              <a:t>DB3: A2A state/pubsub</a:t>
            </a:r>
          </a:p>
          <a:p>
            <a:pPr>
              <a:spcAft>
                <a:spcPts val="330"/>
              </a:spcAft>
              <a:defRPr sz="1100" b="0">
                <a:solidFill>
                  <a:srgbClr val="888888"/>
                </a:solidFill>
              </a:defRPr>
            </a:pPr>
            <a:r>
              <a:t>DB4: Rate limiting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887200" y="1005840"/>
            <a:ext cx="2286000" cy="274320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80" y="105156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1">
                <a:solidFill>
                  <a:srgbClr val="FFFFFF"/>
                </a:solidFill>
              </a:defRPr>
            </a:pPr>
            <a:r>
              <a:t>External Services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</a:defRPr>
            </a:pPr>
          </a:p>
          <a:p>
            <a:pPr>
              <a:spcAft>
                <a:spcPts val="330"/>
              </a:spcAft>
              <a:defRPr sz="1100" b="1">
                <a:solidFill>
                  <a:srgbClr val="27AE60"/>
                </a:solidFill>
              </a:defRPr>
            </a:pPr>
            <a:r>
              <a:t>OpenAI API</a:t>
            </a:r>
          </a:p>
          <a:p>
            <a:pPr>
              <a:spcAft>
                <a:spcPts val="330"/>
              </a:spcAft>
              <a:defRPr sz="1100" b="0">
                <a:solidFill>
                  <a:srgbClr val="F0F0F5"/>
                </a:solidFill>
              </a:defRPr>
            </a:pPr>
            <a:r>
              <a:t>GPT-4o-mini LLM</a:t>
            </a:r>
          </a:p>
          <a:p>
            <a:pPr>
              <a:spcAft>
                <a:spcPts val="330"/>
              </a:spcAft>
              <a:defRPr sz="1100" b="0">
                <a:solidFill>
                  <a:srgbClr val="888888"/>
                </a:solidFill>
              </a:defRPr>
            </a:pPr>
            <a:r>
              <a:t>Function calling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</a:defRPr>
            </a:pPr>
          </a:p>
          <a:p>
            <a:pPr>
              <a:spcAft>
                <a:spcPts val="330"/>
              </a:spcAft>
              <a:defRPr sz="1100" b="1">
                <a:solidFill>
                  <a:srgbClr val="3E97D1"/>
                </a:solidFill>
              </a:defRPr>
            </a:pPr>
            <a:r>
              <a:t>DuckDuckGo</a:t>
            </a:r>
          </a:p>
          <a:p>
            <a:pPr>
              <a:spcAft>
                <a:spcPts val="330"/>
              </a:spcAft>
              <a:defRPr sz="1100" b="0">
                <a:solidFill>
                  <a:srgbClr val="F0F0F5"/>
                </a:solidFill>
              </a:defRPr>
            </a:pPr>
            <a:r>
              <a:t>Web search queries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</a:defRPr>
            </a:pPr>
          </a:p>
          <a:p>
            <a:pPr>
              <a:spcAft>
                <a:spcPts val="330"/>
              </a:spcAft>
              <a:defRPr sz="1100" b="1">
                <a:solidFill>
                  <a:srgbClr val="F39C12"/>
                </a:solidFill>
              </a:defRPr>
            </a:pPr>
            <a:r>
              <a:t>Target Websites</a:t>
            </a:r>
          </a:p>
          <a:p>
            <a:pPr>
              <a:spcAft>
                <a:spcPts val="330"/>
              </a:spcAft>
              <a:defRPr sz="1100" b="0">
                <a:solidFill>
                  <a:srgbClr val="F0F0F5"/>
                </a:solidFill>
              </a:defRPr>
            </a:pPr>
            <a:r>
              <a:t>Web scraping (httpx)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0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E97D1"/>
                </a:solidFill>
              </a:defRPr>
            </a:pPr>
            <a:r>
              <a:t>HTTP + JWT 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1920" y="35204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AE60"/>
                </a:solidFill>
              </a:defRPr>
            </a:pPr>
            <a:r>
              <a:t>Proxy 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18288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39C12"/>
                </a:solidFill>
              </a:defRPr>
            </a:pPr>
            <a:r>
              <a:t>← WebSocket relay 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3931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E44AD"/>
                </a:solidFill>
              </a:defRPr>
            </a:pPr>
            <a:r>
              <a:t>← Poll status 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0" y="5715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74C3C"/>
                </a:solidFill>
              </a:defRPr>
            </a:pPr>
            <a:r>
              <a:t>SQL 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0" y="5715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74C3C"/>
                </a:solidFill>
              </a:defRPr>
            </a:pPr>
            <a:r>
              <a:t>Cache 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521440" y="2286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AE60"/>
                </a:solidFill>
              </a:defRPr>
            </a:pPr>
            <a:r>
              <a:t>← API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3291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39C12"/>
                </a:solidFill>
              </a:defRPr>
            </a:pPr>
            <a:r>
              <a:t>tool calls 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Research Pipeline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2743200" cy="36576"/>
          </a:xfrm>
          <a:prstGeom prst="round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108960" cy="256032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</a:defRPr>
            </a:pPr>
            <a:r>
              <a:t>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234440"/>
            <a:ext cx="59436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25272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</a:defRPr>
            </a:pPr>
            <a:r>
              <a:t>Verify company exists</a:t>
            </a:r>
            <a:br/>
            <a:r>
              <a:t>via web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Agent: validation_agent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MCP Tool: validate_company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88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1097280"/>
            <a:ext cx="3108960" cy="256032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69080" y="1234440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12618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</a:defRPr>
            </a:pPr>
            <a:r>
              <a:t>Sector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234440"/>
            <a:ext cx="594360" cy="320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25272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</a:defRPr>
            </a:pPr>
            <a:r>
              <a:t>Identify industry</a:t>
            </a:r>
            <a:br/>
            <a:r>
              <a:t>sector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Agent: sector_id_agent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MCP Tool: identify_sector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88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097280"/>
            <a:ext cx="3108960" cy="256032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43800" y="1234440"/>
            <a:ext cx="457200" cy="4572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12618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</a:defRPr>
            </a:pPr>
            <a:r>
              <a:t>Competitors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1234440"/>
            <a:ext cx="594360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125272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</a:defRPr>
            </a:pPr>
            <a:r>
              <a:t>Discover top 3-5</a:t>
            </a:r>
            <a:br/>
            <a:r>
              <a:t>market competitors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Agent: competitors_agent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MCP Tool: identify_competitors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88"/>
                </a:solidFill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881359" y="1097280"/>
            <a:ext cx="3108960" cy="256032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018519" y="123444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18519" y="12618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67159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</a:defRPr>
            </a:pPr>
            <a:r>
              <a:t>Financial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258799" y="1234440"/>
            <a:ext cx="59436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58799" y="125272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39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</a:defRPr>
            </a:pPr>
            <a:r>
              <a:t>Revenue, market cap</a:t>
            </a:r>
            <a:br/>
            <a:r>
              <a:t>key financial metrics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39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Agent: financial_agent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39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MCP Tool: financial_data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297680"/>
            <a:ext cx="3108960" cy="256032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4360" y="443484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4622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80B9"/>
                </a:solidFill>
              </a:defRPr>
            </a:pPr>
            <a:r>
              <a:t>Deep Research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34640" y="4434840"/>
            <a:ext cx="594360" cy="3200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34640" y="445312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4983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</a:defRPr>
            </a:pPr>
            <a:r>
              <a:t>Comprehensive market</a:t>
            </a:r>
            <a:br/>
            <a:r>
              <a:t>research &amp; analysis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Agent: deep_research_agent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MCP Tool: browse_page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6160" y="5212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88"/>
                </a:solidFill>
              </a:defRPr>
            </a:pPr>
            <a: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31920" y="4297680"/>
            <a:ext cx="3108960" cy="256032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069080" y="4434840"/>
            <a:ext cx="457200" cy="45720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69080" y="44622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1772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7A7"/>
                </a:solidFill>
              </a:defRPr>
            </a:pPr>
            <a:r>
              <a:t>Sentiment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09360" y="4434840"/>
            <a:ext cx="594360" cy="32004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0" y="445312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0" y="4983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</a:defRPr>
            </a:pPr>
            <a:r>
              <a:t>News sentiment [-1,1]</a:t>
            </a:r>
            <a:br/>
            <a:r>
              <a:t>normalized to [0,1]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Agent: sentiment_agent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MCP Tool: sentiment_analysis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0880" y="5212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88"/>
                </a:solidFill>
              </a:defRPr>
            </a:pPr>
            <a:r>
              <a:t>→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06640" y="4297680"/>
            <a:ext cx="3108960" cy="256032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543800" y="4434840"/>
            <a:ext cx="457200" cy="4572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43800" y="44622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9244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E44AD"/>
                </a:solidFill>
              </a:defRPr>
            </a:pPr>
            <a:r>
              <a:t>Trends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784080" y="4434840"/>
            <a:ext cx="594360" cy="3200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84080" y="445312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85%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89520" y="4983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</a:defRPr>
            </a:pPr>
            <a:r>
              <a:t>Emerging &amp; declining</a:t>
            </a:r>
            <a:br/>
            <a:r>
              <a:t>market trends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8952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Agent: trends_agent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8952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MCP Tool: trend_analysis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212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88"/>
                </a:solidFill>
              </a:defRPr>
            </a:pPr>
            <a:r>
              <a:t>→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881359" y="4297680"/>
            <a:ext cx="3108960" cy="256032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E94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018519" y="4434840"/>
            <a:ext cx="457200" cy="457200"/>
          </a:xfrm>
          <a:prstGeom prst="ellipse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018519" y="44622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567159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94D60"/>
                </a:solidFill>
              </a:defRPr>
            </a:pPr>
            <a:r>
              <a:t>Report Gen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3258799" y="4434840"/>
            <a:ext cx="594360" cy="320040"/>
          </a:xfrm>
          <a:prstGeom prst="round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258799" y="445312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95%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64239" y="4983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</a:defRPr>
            </a:pPr>
            <a:r>
              <a:t>Full markdown report</a:t>
            </a:r>
            <a:br/>
            <a:r>
              <a:t>with SWOT &amp; recs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064239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Agent: report_gen_agent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64239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MCP Tool: generate_report + swot_analysis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7498079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</a:defRPr>
            </a:pPr>
            <a:r>
              <a:t>Each stage accumulates context → passed to next agent → final report synthesizes all data  |  Real-time WebSocket progress updates at each stage transition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Technology Stack &amp;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2743200" cy="36576"/>
          </a:xfrm>
          <a:prstGeom prst="round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297680" cy="310896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3E9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E97D1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React 18 + 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38527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Zustand (state management)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113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React Router v6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2374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Axios (HTTP client)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163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Recharts (visualizations)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React Markdown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Lucide React (icons)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941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Nginx (production server)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097280"/>
            <a:ext cx="4297680" cy="310896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234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</a:defRPr>
            </a:pPr>
            <a:r>
              <a:t>API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645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Node.js 20 + Express.js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938527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HTTP reverse proxy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23113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WebSocket relay (ws)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52374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Redis-backed rate limiting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8163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JWT token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108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Helmet + CORS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4015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Morgan logging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1097280"/>
            <a:ext cx="4297680" cy="310896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1234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E44AD"/>
                </a:solidFill>
              </a:defRPr>
            </a:pPr>
            <a:r>
              <a:t>Backend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1645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Django 5.1 + DRF 3.15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1938527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Django Channels (WS)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23113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SimpleJWT (auth)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52374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Celery 5.4 (tasks)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8163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Celery Beat (scheduler)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3108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ReportLab (PDF export)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34015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Uvicorn (ASGI server)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572000"/>
            <a:ext cx="4297680" cy="310896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7091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</a:defRPr>
            </a:pPr>
            <a:r>
              <a:t>AI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120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FastAPI (orchestrator)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413247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FastAPI (MCP server)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0585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OpenAI GPT-4o-mini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99846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Agent-to-Agent protocol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2910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DuckDuckGo search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583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BeautifulSoup (scraping)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8762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httpx (async HTTP)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0640" y="4572000"/>
            <a:ext cx="4297680" cy="310896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0" y="47091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</a:defRPr>
            </a:pPr>
            <a:r>
              <a:t>Data Stores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5120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PostgreSQL 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0" y="5413247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Redis 7 (5 databases)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570585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Channels Redis layer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599846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MCP tool result cache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62910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Celery task broker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6583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Rate limit counters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84080" y="4572000"/>
            <a:ext cx="4297680" cy="310896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66960" y="47091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88888"/>
                </a:solidFill>
              </a:defRPr>
            </a:pPr>
            <a:r>
              <a:t>DevOps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60" y="5120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Docker + Compose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5413247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9 containerized services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570585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Health check probes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66960" y="599846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Automatic migrations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66960" y="62910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Volume persistence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66960" y="6583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</a:defRPr>
            </a:pPr>
            <a:r>
              <a:t>•  Bridge networking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 Flow &amp; 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2743200" cy="36576"/>
          </a:xfrm>
          <a:prstGeom prst="round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6675120" cy="320040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27AE60"/>
                </a:solidFill>
              </a:defRPr>
            </a:pPr>
            <a:r>
              <a:t>Authentication Flow (JWT)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1.  User registers/logs in  →  POST /api/auth/login/</a:t>
            </a: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2.  Server returns access token (60 min) + refresh token (7 days)</a:t>
            </a: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3.  Tokens stored in localStorage</a:t>
            </a: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4.  Every API request includes: Authorization: Bearer &lt;access_token&gt;</a:t>
            </a: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5.  Gateway verifies JWT for agent/MCP routes</a:t>
            </a: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6.  Django independently validates JWT for /api/* routes</a:t>
            </a: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7.  On 401: auto-refresh via POST /api/auth/token/refresh/</a:t>
            </a:r>
          </a:p>
          <a:p>
            <a:pPr>
              <a:spcAft>
                <a:spcPts val="390"/>
              </a:spcAft>
              <a:defRPr sz="1300" b="0">
                <a:solidFill>
                  <a:srgbClr val="888888"/>
                </a:solidFill>
              </a:defRPr>
            </a:pPr>
            <a:r>
              <a:t>8.  Failed refresh → redirect to /login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097280"/>
            <a:ext cx="6675120" cy="320040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14300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F39C12"/>
                </a:solidFill>
              </a:defRPr>
            </a:pPr>
            <a:r>
              <a:t>Research Task Flow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1.  Frontend  →  POST /api/research/tasks/start_research/</a:t>
            </a: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2.  Django creates task  →  dispatches Celery job</a:t>
            </a: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3.  Celery  →  POST /a2a/research  (starts pipeline)</a:t>
            </a: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4.  A2A runs 8 agents sequentially, each calls MCP tools</a:t>
            </a: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5.  Progress broadcast via WebSocket + Redis pub/sub</a:t>
            </a: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6.  Celery polls /a2a/research/{id}/status every 5 seconds</a:t>
            </a: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7.  On completion: fetches /a2a/research/{id}/result</a:t>
            </a:r>
          </a:p>
          <a:p>
            <a:pPr>
              <a:spcAft>
                <a:spcPts val="390"/>
              </a:spcAft>
              <a:defRPr sz="1300" b="0">
                <a:solidFill>
                  <a:srgbClr val="888888"/>
                </a:solidFill>
              </a:defRPr>
            </a:pPr>
            <a:r>
              <a:t>8.  Stores in ResearchResult  →  creates Notification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72000"/>
            <a:ext cx="6675120" cy="320040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3E9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3E97D1"/>
                </a:solidFill>
              </a:defRPr>
            </a:pPr>
            <a:r>
              <a:t>Real-Time WebSocket Architecture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Frontend  →  ws://gateway:4063/ws/research/{taskId}</a:t>
            </a: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Gateway  →  ws://a2a:7063/a2a/ws/{taskId}  (upstream)</a:t>
            </a: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A2A  →  Redis pub/sub channel: a2a:progress:{taskId}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390"/>
              </a:spcAft>
              <a:defRPr sz="1300" b="0">
                <a:solidFill>
                  <a:srgbClr val="888888"/>
                </a:solidFill>
              </a:defRPr>
            </a:pPr>
            <a:r>
              <a:t>Messages: { type, stage, status, progress, message }</a:t>
            </a:r>
          </a:p>
          <a:p>
            <a:pPr>
              <a:spcAft>
                <a:spcPts val="390"/>
              </a:spcAft>
              <a:defRPr sz="1300" b="0">
                <a:solidFill>
                  <a:srgbClr val="888888"/>
                </a:solidFill>
              </a:defRPr>
            </a:pPr>
            <a:r>
              <a:t>Reconnection: exponential backoff (max 30s, 10 attempts)</a:t>
            </a:r>
          </a:p>
          <a:p>
            <a:pPr>
              <a:spcAft>
                <a:spcPts val="390"/>
              </a:spcAft>
              <a:defRPr sz="1300" b="0">
                <a:solidFill>
                  <a:srgbClr val="888888"/>
                </a:solidFill>
              </a:defRPr>
            </a:pPr>
            <a:r>
              <a:t>Keepalive pings to detect stale connections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4572000"/>
            <a:ext cx="6675120" cy="3200400"/>
          </a:xfrm>
          <a:prstGeom prst="roundRect">
            <a:avLst/>
          </a:prstGeom>
          <a:solidFill>
            <a:srgbClr val="1E2A45"/>
          </a:solidFill>
          <a:ln w="19050">
            <a:solidFill>
              <a:srgbClr val="E94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461772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E94D60"/>
                </a:solidFill>
              </a:defRPr>
            </a:pPr>
            <a:r>
              <a:t>Key System Specifications</a:t>
            </a:r>
          </a:p>
          <a:p>
            <a:pPr>
              <a:spcAft>
                <a:spcPts val="39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•  9 Docker containers in isolated bridge network</a:t>
            </a: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•  8 AI agents in sequential pipeline</a:t>
            </a: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•  9 MCP tools with DuckDuckGo + web scraping</a:t>
            </a: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•  5 Redis databases for isolated concerns</a:t>
            </a: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•  JWT auth with auto-rotation (60m access / 7d refresh)</a:t>
            </a: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•  Rate limiting: 600 req/min per user</a:t>
            </a:r>
          </a:p>
          <a:p>
            <a:pPr>
              <a:spcAft>
                <a:spcPts val="390"/>
              </a:spcAft>
              <a:defRPr sz="1300" b="0">
                <a:solidFill>
                  <a:srgbClr val="F0F0F5"/>
                </a:solidFill>
              </a:defRPr>
            </a:pPr>
            <a:r>
              <a:t>•  Daily research quota: 10 per user (auto-reset)</a:t>
            </a:r>
          </a:p>
          <a:p>
            <a:pPr>
              <a:spcAft>
                <a:spcPts val="390"/>
              </a:spcAft>
              <a:defRPr sz="1300" b="0">
                <a:solidFill>
                  <a:srgbClr val="888888"/>
                </a:solidFill>
              </a:defRPr>
            </a:pPr>
            <a:r>
              <a:t>•  Report export: PDF (ReportLab) + Markdown + CSV + 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